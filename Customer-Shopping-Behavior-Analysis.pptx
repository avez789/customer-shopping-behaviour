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IBM Plex Sans Medium"/>
      <p:regular r:id="rId17"/>
    </p:embeddedFont>
    <p:embeddedFont>
      <p:font typeface="IBM Plex Sans Medium"/>
      <p:regular r:id="rId18"/>
    </p:embeddedFont>
    <p:embeddedFont>
      <p:font typeface="IBM Plex Sans Medium"/>
      <p:regular r:id="rId19"/>
    </p:embeddedFont>
    <p:embeddedFont>
      <p:font typeface="IBM Plex Sans Medium"/>
      <p:regular r:id="rId20"/>
    </p:embeddedFont>
    <p:embeddedFont>
      <p:font typeface="Roboto"/>
      <p:regular r:id="rId21"/>
    </p:embeddedFont>
    <p:embeddedFont>
      <p:font typeface="Roboto"/>
      <p:regular r:id="rId22"/>
    </p:embeddedFont>
    <p:embeddedFont>
      <p:font typeface="Roboto"/>
      <p:regular r:id="rId23"/>
    </p:embeddedFont>
    <p:embeddedFont>
      <p:font typeface="Roboto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image" Target="../media/image-3-8.png"/><Relationship Id="rId9" Type="http://schemas.openxmlformats.org/officeDocument/2006/relationships/image" Target="../media/image-3-9.svg"/><Relationship Id="rId10" Type="http://schemas.openxmlformats.org/officeDocument/2006/relationships/slideLayout" Target="../slideLayouts/slideLayout4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9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0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Customer Shopping Behavior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Uncovering insights from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3,900 purchases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guide strategic business decisions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36505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Dataset Overview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2527340"/>
            <a:ext cx="3636407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3,900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6680716" y="35591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Total Purchases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280190" y="4049554"/>
            <a:ext cx="36364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Transaction records analyzed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0200084" y="2527340"/>
            <a:ext cx="3636526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18</a:t>
            </a:r>
            <a:endParaRPr lang="en-US" sz="5850" dirty="0"/>
          </a:p>
        </p:txBody>
      </p:sp>
      <p:sp>
        <p:nvSpPr>
          <p:cNvPr id="8" name="Text 5"/>
          <p:cNvSpPr/>
          <p:nvPr/>
        </p:nvSpPr>
        <p:spPr>
          <a:xfrm>
            <a:off x="10600730" y="35591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Data Columns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200084" y="4049554"/>
            <a:ext cx="36365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Comprehensive transaction data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8240078" y="4979432"/>
            <a:ext cx="3636526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37</a:t>
            </a:r>
            <a:endParaRPr lang="en-US" sz="5850" dirty="0"/>
          </a:p>
        </p:txBody>
      </p:sp>
      <p:sp>
        <p:nvSpPr>
          <p:cNvPr id="11" name="Text 8"/>
          <p:cNvSpPr/>
          <p:nvPr/>
        </p:nvSpPr>
        <p:spPr>
          <a:xfrm>
            <a:off x="8640723" y="60112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Missing Values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8240078" y="6501646"/>
            <a:ext cx="36365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Only in Review Rating column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03565"/>
            <a:ext cx="657415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Data Preparation Process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3852" y="2065973"/>
            <a:ext cx="10142696" cy="4642009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91188" y="3224958"/>
            <a:ext cx="652132" cy="65213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010178" y="5422237"/>
            <a:ext cx="1904228" cy="733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23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Engineer &amp; Save</a:t>
            </a:r>
            <a:endParaRPr lang="en-US" sz="230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03771" y="3226180"/>
            <a:ext cx="652132" cy="652133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7610329" y="5422237"/>
            <a:ext cx="1904228" cy="733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23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Handle Missing</a:t>
            </a:r>
            <a:endParaRPr lang="en-US" sz="230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16964" y="3226180"/>
            <a:ext cx="652133" cy="652133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5223523" y="5605650"/>
            <a:ext cx="1904228" cy="36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23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Explore</a:t>
            </a:r>
            <a:endParaRPr lang="en-US" sz="2300" dirty="0"/>
          </a:p>
        </p:txBody>
      </p:sp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417115" y="3226180"/>
            <a:ext cx="652133" cy="652133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2784546" y="5605650"/>
            <a:ext cx="1904228" cy="36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23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Load Data</a:t>
            </a:r>
            <a:endParaRPr lang="en-US" sz="2300" dirty="0"/>
          </a:p>
        </p:txBody>
      </p:sp>
      <p:sp>
        <p:nvSpPr>
          <p:cNvPr id="12" name="Text 5"/>
          <p:cNvSpPr/>
          <p:nvPr/>
        </p:nvSpPr>
        <p:spPr>
          <a:xfrm>
            <a:off x="793790" y="696313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clean, structured dataset was the foundation for all downstream analysis.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23342"/>
            <a:ext cx="735032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Revenue by Gender Analysis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327434"/>
            <a:ext cx="8284131" cy="46236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38943" y="28177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Key Insight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9638943" y="3398877"/>
            <a:ext cx="420516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Female customers generate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slightly higher total revenue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than male customers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9638943" y="4742736"/>
            <a:ext cx="4205168" cy="1689616"/>
          </a:xfrm>
          <a:prstGeom prst="roundRect">
            <a:avLst>
              <a:gd name="adj" fmla="val 2014"/>
            </a:avLst>
          </a:prstGeom>
          <a:solidFill>
            <a:srgbClr val="4D1F00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5757" y="5086826"/>
            <a:ext cx="283488" cy="22681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376059" y="5026223"/>
            <a:ext cx="324123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Gender-based marketing strategies could optimize revenue streams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101929"/>
            <a:ext cx="688824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High-Value Discount Users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3150870"/>
            <a:ext cx="7556421" cy="2976801"/>
          </a:xfrm>
          <a:prstGeom prst="roundRect">
            <a:avLst>
              <a:gd name="adj" fmla="val 1143"/>
            </a:avLst>
          </a:prstGeom>
          <a:solidFill>
            <a:srgbClr val="484B51"/>
          </a:solidFill>
          <a:ln/>
        </p:spPr>
      </p:sp>
      <p:sp>
        <p:nvSpPr>
          <p:cNvPr id="5" name="Shape 2"/>
          <p:cNvSpPr/>
          <p:nvPr/>
        </p:nvSpPr>
        <p:spPr>
          <a:xfrm>
            <a:off x="6280190" y="3150870"/>
            <a:ext cx="3778210" cy="1669852"/>
          </a:xfrm>
          <a:prstGeom prst="roundRect">
            <a:avLst>
              <a:gd name="adj" fmla="val 2038"/>
            </a:avLst>
          </a:prstGeom>
          <a:solidFill>
            <a:srgbClr val="484B51"/>
          </a:solidFill>
          <a:ln/>
        </p:spPr>
      </p:sp>
      <p:sp>
        <p:nvSpPr>
          <p:cNvPr id="6" name="Text 3"/>
          <p:cNvSpPr/>
          <p:nvPr/>
        </p:nvSpPr>
        <p:spPr>
          <a:xfrm>
            <a:off x="6507004" y="33776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Who They Are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507004" y="3868103"/>
            <a:ext cx="33245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Customers using discounts while spending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above average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10058400" y="3150870"/>
            <a:ext cx="3778210" cy="1669852"/>
          </a:xfrm>
          <a:prstGeom prst="rect">
            <a:avLst/>
          </a:prstGeom>
          <a:solidFill>
            <a:srgbClr val="484B51"/>
          </a:solidFill>
          <a:ln/>
        </p:spPr>
      </p:sp>
      <p:sp>
        <p:nvSpPr>
          <p:cNvPr id="9" name="Shape 6"/>
          <p:cNvSpPr/>
          <p:nvPr/>
        </p:nvSpPr>
        <p:spPr>
          <a:xfrm>
            <a:off x="10058400" y="3150870"/>
            <a:ext cx="30480" cy="1669852"/>
          </a:xfrm>
          <a:prstGeom prst="roundRect">
            <a:avLst>
              <a:gd name="adj" fmla="val 111628"/>
            </a:avLst>
          </a:prstGeom>
          <a:solidFill>
            <a:srgbClr val="61646A"/>
          </a:solidFill>
          <a:ln/>
        </p:spPr>
      </p:sp>
      <p:sp>
        <p:nvSpPr>
          <p:cNvPr id="10" name="Text 7"/>
          <p:cNvSpPr/>
          <p:nvPr/>
        </p:nvSpPr>
        <p:spPr>
          <a:xfrm>
            <a:off x="10285214" y="33776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Smart Shoppers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285214" y="3868103"/>
            <a:ext cx="33245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 spenders who maximize value with discounts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6280190" y="4820722"/>
            <a:ext cx="7556421" cy="1306949"/>
          </a:xfrm>
          <a:prstGeom prst="rect">
            <a:avLst/>
          </a:prstGeom>
          <a:solidFill>
            <a:srgbClr val="484B51"/>
          </a:solidFill>
          <a:ln/>
        </p:spPr>
      </p:sp>
      <p:sp>
        <p:nvSpPr>
          <p:cNvPr id="13" name="Shape 10"/>
          <p:cNvSpPr/>
          <p:nvPr/>
        </p:nvSpPr>
        <p:spPr>
          <a:xfrm>
            <a:off x="6280190" y="4820722"/>
            <a:ext cx="7556421" cy="30480"/>
          </a:xfrm>
          <a:prstGeom prst="roundRect">
            <a:avLst>
              <a:gd name="adj" fmla="val 111628"/>
            </a:avLst>
          </a:prstGeom>
          <a:solidFill>
            <a:srgbClr val="61646A"/>
          </a:solidFill>
          <a:ln/>
        </p:spPr>
      </p:sp>
      <p:sp>
        <p:nvSpPr>
          <p:cNvPr id="14" name="Text 11"/>
          <p:cNvSpPr/>
          <p:nvPr/>
        </p:nvSpPr>
        <p:spPr>
          <a:xfrm>
            <a:off x="6507004" y="504753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Strategic Opportunity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507004" y="5537954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 premium customers with exclusive offers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5914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Top-Rated Products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921556"/>
            <a:ext cx="2411968" cy="24119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561701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Blouse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6107430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Highest customer satisfaction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5893" y="2921556"/>
            <a:ext cx="2411968" cy="24119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35893" y="561701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Dress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35893" y="6107430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Consistently excellent reviews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7995" y="2921556"/>
            <a:ext cx="2411968" cy="24119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7995" y="561701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Shirt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677995" y="6107430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Strong customer approval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94084"/>
            <a:ext cx="754082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Shipping Preferences Impact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630436" y="3243024"/>
            <a:ext cx="6571417" cy="2174438"/>
          </a:xfrm>
          <a:prstGeom prst="roundRect">
            <a:avLst>
              <a:gd name="adj" fmla="val 1565"/>
            </a:avLst>
          </a:prstGeom>
          <a:solidFill>
            <a:srgbClr val="FFBC8F"/>
          </a:solidFill>
          <a:ln/>
        </p:spPr>
      </p:sp>
      <p:sp>
        <p:nvSpPr>
          <p:cNvPr id="4" name="Text 2"/>
          <p:cNvSpPr/>
          <p:nvPr/>
        </p:nvSpPr>
        <p:spPr>
          <a:xfrm>
            <a:off x="857250" y="346983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Express Shipping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7250" y="391489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00000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$65</a:t>
            </a:r>
            <a:endParaRPr lang="en-US" sz="4450" dirty="0"/>
          </a:p>
        </p:txBody>
      </p:sp>
      <p:sp>
        <p:nvSpPr>
          <p:cNvPr id="6" name="Text 4"/>
          <p:cNvSpPr/>
          <p:nvPr/>
        </p:nvSpPr>
        <p:spPr>
          <a:xfrm>
            <a:off x="857250" y="4850487"/>
            <a:ext cx="6117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Average purchase amount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346983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Standard Shipping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599521" y="391489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$58</a:t>
            </a:r>
            <a:endParaRPr lang="en-US" sz="4450" dirty="0"/>
          </a:p>
        </p:txBody>
      </p:sp>
      <p:sp>
        <p:nvSpPr>
          <p:cNvPr id="9" name="Text 7"/>
          <p:cNvSpPr/>
          <p:nvPr/>
        </p:nvSpPr>
        <p:spPr>
          <a:xfrm>
            <a:off x="7599521" y="485048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Average purchase amount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93790" y="567261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Express shipping customers spend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12% more per transaction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a signal of purchase intent and urgency.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5914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Subscription Impact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921556"/>
            <a:ext cx="2411968" cy="24119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561701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Higher Spend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6107430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Subscribers vs non-subscribers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5893" y="2921556"/>
            <a:ext cx="2411968" cy="24119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35893" y="561701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Revenue Share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35893" y="6107430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From subscription customers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7995" y="2921556"/>
            <a:ext cx="2411968" cy="24119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7995" y="561701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Loyalty Rate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677995" y="6107430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Repeat purchase frequency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55959"/>
            <a:ext cx="627757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Customer Segmentation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8348" y="3118366"/>
            <a:ext cx="2152055" cy="8079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94892" y="3410188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25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1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357217" y="3345180"/>
            <a:ext cx="164103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Loyal — 15%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5187077" y="3939421"/>
            <a:ext cx="8592860" cy="15240"/>
          </a:xfrm>
          <a:prstGeom prst="roundRect">
            <a:avLst>
              <a:gd name="adj" fmla="val 223256"/>
            </a:avLst>
          </a:prstGeom>
          <a:solidFill>
            <a:srgbClr val="61646A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2381" y="3982998"/>
            <a:ext cx="4304109" cy="80795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894892" y="4187666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25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2</a:t>
            </a:r>
            <a:endParaRPr lang="en-US" sz="2500" dirty="0"/>
          </a:p>
        </p:txBody>
      </p:sp>
      <p:sp>
        <p:nvSpPr>
          <p:cNvPr id="9" name="Text 5"/>
          <p:cNvSpPr/>
          <p:nvPr/>
        </p:nvSpPr>
        <p:spPr>
          <a:xfrm>
            <a:off x="6433304" y="4209812"/>
            <a:ext cx="223444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Returning — 35%</a:t>
            </a:r>
            <a:endParaRPr lang="en-US" sz="2200" dirty="0"/>
          </a:p>
        </p:txBody>
      </p:sp>
      <p:sp>
        <p:nvSpPr>
          <p:cNvPr id="10" name="Shape 6"/>
          <p:cNvSpPr/>
          <p:nvPr/>
        </p:nvSpPr>
        <p:spPr>
          <a:xfrm>
            <a:off x="6263164" y="4804053"/>
            <a:ext cx="7516773" cy="15240"/>
          </a:xfrm>
          <a:prstGeom prst="roundRect">
            <a:avLst>
              <a:gd name="adj" fmla="val 223256"/>
            </a:avLst>
          </a:prstGeom>
          <a:solidFill>
            <a:srgbClr val="61646A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294" y="4847630"/>
            <a:ext cx="6456164" cy="80795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894773" y="5052298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25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3</a:t>
            </a:r>
            <a:endParaRPr lang="en-US" sz="2500" dirty="0"/>
          </a:p>
        </p:txBody>
      </p:sp>
      <p:sp>
        <p:nvSpPr>
          <p:cNvPr id="13" name="Text 8"/>
          <p:cNvSpPr/>
          <p:nvPr/>
        </p:nvSpPr>
        <p:spPr>
          <a:xfrm>
            <a:off x="7509272" y="5074444"/>
            <a:ext cx="154781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New — 50%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793790" y="591073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Focus on converting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New → Returning → Loyal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743188"/>
            <a:ext cx="6953845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42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Strategic Recommendations</a:t>
            </a:r>
            <a:endParaRPr lang="en-US" sz="4200" dirty="0"/>
          </a:p>
        </p:txBody>
      </p:sp>
      <p:sp>
        <p:nvSpPr>
          <p:cNvPr id="4" name="Shape 1"/>
          <p:cNvSpPr/>
          <p:nvPr/>
        </p:nvSpPr>
        <p:spPr>
          <a:xfrm>
            <a:off x="6280190" y="1723668"/>
            <a:ext cx="7556421" cy="1287185"/>
          </a:xfrm>
          <a:prstGeom prst="roundRect">
            <a:avLst>
              <a:gd name="adj" fmla="val 11366"/>
            </a:avLst>
          </a:prstGeom>
          <a:solidFill>
            <a:srgbClr val="292C32"/>
          </a:solidFill>
          <a:ln w="30480">
            <a:solidFill>
              <a:srgbClr val="61646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249710" y="1723668"/>
            <a:ext cx="121920" cy="1287185"/>
          </a:xfrm>
          <a:prstGeom prst="roundRect">
            <a:avLst>
              <a:gd name="adj" fmla="val 26512"/>
            </a:avLst>
          </a:prstGeom>
          <a:solidFill>
            <a:srgbClr val="FFBC8F"/>
          </a:solidFill>
          <a:ln/>
        </p:spPr>
      </p:sp>
      <p:sp>
        <p:nvSpPr>
          <p:cNvPr id="6" name="Text 3"/>
          <p:cNvSpPr/>
          <p:nvPr/>
        </p:nvSpPr>
        <p:spPr>
          <a:xfrm>
            <a:off x="6617494" y="1969532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Boost Subscriptions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6617494" y="2428875"/>
            <a:ext cx="6973253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Promote exclusive benefits for subscribers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6280190" y="3215521"/>
            <a:ext cx="7556421" cy="1287185"/>
          </a:xfrm>
          <a:prstGeom prst="roundRect">
            <a:avLst>
              <a:gd name="adj" fmla="val 11366"/>
            </a:avLst>
          </a:prstGeom>
          <a:solidFill>
            <a:srgbClr val="292C32"/>
          </a:solidFill>
          <a:ln w="30480">
            <a:solidFill>
              <a:srgbClr val="61646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49710" y="3215521"/>
            <a:ext cx="121920" cy="1287185"/>
          </a:xfrm>
          <a:prstGeom prst="roundRect">
            <a:avLst>
              <a:gd name="adj" fmla="val 26512"/>
            </a:avLst>
          </a:prstGeom>
          <a:solidFill>
            <a:srgbClr val="FFBC8F"/>
          </a:solidFill>
          <a:ln/>
        </p:spPr>
      </p:sp>
      <p:sp>
        <p:nvSpPr>
          <p:cNvPr id="10" name="Text 7"/>
          <p:cNvSpPr/>
          <p:nvPr/>
        </p:nvSpPr>
        <p:spPr>
          <a:xfrm>
            <a:off x="6617494" y="3461385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Loyalty Programs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6617494" y="3920728"/>
            <a:ext cx="6973253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Reward repeat buyers to increase retention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6280190" y="4707374"/>
            <a:ext cx="7556421" cy="1287185"/>
          </a:xfrm>
          <a:prstGeom prst="roundRect">
            <a:avLst>
              <a:gd name="adj" fmla="val 11366"/>
            </a:avLst>
          </a:prstGeom>
          <a:solidFill>
            <a:srgbClr val="292C32"/>
          </a:solidFill>
          <a:ln w="30480">
            <a:solidFill>
              <a:srgbClr val="61646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49710" y="4707374"/>
            <a:ext cx="121920" cy="1287185"/>
          </a:xfrm>
          <a:prstGeom prst="roundRect">
            <a:avLst>
              <a:gd name="adj" fmla="val 26512"/>
            </a:avLst>
          </a:prstGeom>
          <a:solidFill>
            <a:srgbClr val="FFBC8F"/>
          </a:solidFill>
          <a:ln/>
        </p:spPr>
      </p:sp>
      <p:sp>
        <p:nvSpPr>
          <p:cNvPr id="14" name="Text 11"/>
          <p:cNvSpPr/>
          <p:nvPr/>
        </p:nvSpPr>
        <p:spPr>
          <a:xfrm>
            <a:off x="6617494" y="4953238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Targeted Marketing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6617494" y="5412581"/>
            <a:ext cx="6973253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Focus on high-revenue segments and express users</a:t>
            </a:r>
            <a:endParaRPr lang="en-US" sz="1650" dirty="0"/>
          </a:p>
        </p:txBody>
      </p:sp>
      <p:sp>
        <p:nvSpPr>
          <p:cNvPr id="16" name="Shape 13"/>
          <p:cNvSpPr/>
          <p:nvPr/>
        </p:nvSpPr>
        <p:spPr>
          <a:xfrm>
            <a:off x="6280190" y="6199227"/>
            <a:ext cx="7556421" cy="1287185"/>
          </a:xfrm>
          <a:prstGeom prst="roundRect">
            <a:avLst>
              <a:gd name="adj" fmla="val 11366"/>
            </a:avLst>
          </a:prstGeom>
          <a:solidFill>
            <a:srgbClr val="292C32"/>
          </a:solidFill>
          <a:ln w="30480">
            <a:solidFill>
              <a:srgbClr val="61646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249710" y="6199227"/>
            <a:ext cx="121920" cy="1287185"/>
          </a:xfrm>
          <a:prstGeom prst="roundRect">
            <a:avLst>
              <a:gd name="adj" fmla="val 26512"/>
            </a:avLst>
          </a:prstGeom>
          <a:solidFill>
            <a:srgbClr val="FFBC8F"/>
          </a:solidFill>
          <a:ln/>
        </p:spPr>
      </p:sp>
      <p:sp>
        <p:nvSpPr>
          <p:cNvPr id="18" name="Text 15"/>
          <p:cNvSpPr/>
          <p:nvPr/>
        </p:nvSpPr>
        <p:spPr>
          <a:xfrm>
            <a:off x="6617494" y="6445091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Product Positioning</a:t>
            </a:r>
            <a:endParaRPr lang="en-US" sz="2100" dirty="0"/>
          </a:p>
        </p:txBody>
      </p:sp>
      <p:sp>
        <p:nvSpPr>
          <p:cNvPr id="19" name="Text 16"/>
          <p:cNvSpPr/>
          <p:nvPr/>
        </p:nvSpPr>
        <p:spPr>
          <a:xfrm>
            <a:off x="6617494" y="6904434"/>
            <a:ext cx="6973253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Highlight top-rated products in campaigns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2026-04-09T09:19:00Z</dcterms:created>
  <dcterms:modified xsi:type="dcterms:W3CDTF">2026-04-09T09:19:00Z</dcterms:modified>
</cp:coreProperties>
</file>